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B4D8"/>
                </a:solidFill>
              </a:defRPr>
            </a:pPr>
            <a:r>
              <a:t>TRAINROUTER</a:t>
            </a:r>
          </a:p>
          <a:p>
            <a:pPr>
              <a:spcBef>
                <a:spcPts val="1400"/>
              </a:spcBef>
              <a:defRPr sz="2200">
                <a:solidFill>
                  <a:srgbClr val="FFFFFF"/>
                </a:solidFill>
              </a:defRPr>
            </a:pPr>
            <a:r>
              <a:t>Smart Train Route Optimization &amp; Ticketing System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</a:defRPr>
            </a:pPr>
            <a:r>
              <a:t>An intelligent algorithms-driven platform for seamless railway navigation, real-time seat allocation, and multi-hop route planning.</a:t>
            </a:r>
          </a:p>
        </p:txBody>
      </p:sp>
      <p:pic>
        <p:nvPicPr>
          <p:cNvPr id="4" name="Picture 3" descr="hero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371600"/>
            <a:ext cx="347472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5486400"/>
            <a:ext cx="10362895" cy="73152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Course Project Presentation | System Analysis &amp;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Project Engineering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sib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377440"/>
            <a:ext cx="2194560" cy="2194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20" y="4846320"/>
            <a:ext cx="246888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ID: 00724205101098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gant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377440"/>
            <a:ext cx="2194560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37760" y="4846320"/>
            <a:ext cx="246888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ID: 00724205101103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200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ran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377440"/>
            <a:ext cx="2194560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686800" y="4846320"/>
            <a:ext cx="246888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ID: 00724205101123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01. Smart Route Optimization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Uses advanced graph search algorithms (Dijkstra's &amp; A*) to calculate optimal paths across complex rail networks with minimal transfers.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4577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02. Real-Time Seat Management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Provides live concurrency control and dynamic seat mapping to eliminate double-booking and maximize passenger convenience.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054577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03. Scalable Modern Architecture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Built with a decoupled modular architecture ensuring low latency, high throughput, and seamless third-party integrations.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Current Challenges in Railway Ticketing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Rigid Direct Routes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Passengers struggle to find multi-train connections when direct trains are fully booked or unavailable.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Seat Conflicts &amp; Overbooking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Legacy synchronization delays often result in duplicate bookings during high-traffic peak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2918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</a:defRPr>
            </a:pPr>
            <a:r>
              <a:t>High System Latency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Outdated database queries lead to slow search responses and degraded user experience during rush periods.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The TrainRouter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Intelligent Multi-Hop Routing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Finds optimal connected routes across multiple train lines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Sub-Second Seat Locking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Atomic Redis-backed locking mechanism guarantees zero double-booking.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Interactive Seat Map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Visual coach layout allows real-time preference-based seat selection.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Automated E-Ticketing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Instant QR code ticket generation for seamless station entry and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Key System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 Multi-Criteria Search: Filter by travel speed, ticket cost, or transfer count.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 Live Seat Selector: Interactive graphical representation of train coaches.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 Real-Time Train Tracking: Simulated live status updates and delay alerts.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 Instant E-Tickets: Secure digital tickets with verification QR codes.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•  User Dashboard: Manage active bookings, travel history, and refunds.</a:t>
            </a:r>
          </a:p>
        </p:txBody>
      </p:sp>
      <p:pic>
        <p:nvPicPr>
          <p:cNvPr id="6" name="Picture 5" descr="train_app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F4C81"/>
                </a:solidFill>
              </a:defRPr>
            </a:pPr>
            <a:r>
              <a:t>Frontend Presentation Layer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Responsive Web Portal built for desktop &amp; mobile accessibility.</a:t>
            </a:r>
          </a:p>
          <a:p>
            <a:pPr>
              <a:defRPr sz="1600" b="1">
                <a:solidFill>
                  <a:srgbClr val="0F4C81"/>
                </a:solidFill>
              </a:defRPr>
            </a:pPr>
            <a:r>
              <a:t>API Gateway &amp; Authentication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Handles rate limiting, JWT validation, and CORS security.</a:t>
            </a:r>
          </a:p>
          <a:p>
            <a:pPr>
              <a:defRPr sz="1600" b="1">
                <a:solidFill>
                  <a:srgbClr val="0F4C81"/>
                </a:solidFill>
              </a:defRPr>
            </a:pPr>
            <a:r>
              <a:t>Core Application Services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Houses the Route Engine, Seat Reservation Service, and Payment Gateway.</a:t>
            </a:r>
          </a:p>
          <a:p>
            <a:pPr>
              <a:defRPr sz="1600" b="1">
                <a:solidFill>
                  <a:srgbClr val="0F4C81"/>
                </a:solidFill>
              </a:defRPr>
            </a:pPr>
            <a:r>
              <a:t>Data Persistence Layer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PostgreSQL database paired with Redis for ultra-fast caching.</a:t>
            </a:r>
          </a:p>
        </p:txBody>
      </p:sp>
      <p:pic>
        <p:nvPicPr>
          <p:cNvPr id="6" name="Picture 5" descr="train_rout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Route Optimization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Graph Representation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Railway Network modeled as a weighted directed graph G = (V, E).</a:t>
            </a:r>
            <a:br/>
            <a:r>
              <a:t>• Vertices (V): Railway stations and transit junctions.</a:t>
            </a:r>
            <a:br/>
            <a:r>
              <a:t>• Edges (E): Railway lines connecting stations.</a:t>
            </a:r>
            <a:br/>
            <a:r>
              <a:t>• Weights: Time duration, distance, and ticket price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Dijkstra's / A* Implementation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Priority Queue based implementation for min-cost search.</a:t>
            </a:r>
            <a:br/>
            <a:r>
              <a:t>• Pruning heuristic minimizes station transfer wait times.</a:t>
            </a:r>
            <a:br/>
            <a:r>
              <a:t>• Multi-objective optimization allows user preference ranking (Fastest vs. Cheapest vs. Fewest Transfers).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Database Schema &amp; Entity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Stations: </a:t>
            </a:r>
            <a:r>
              <a:rPr sz="1400" b="0">
                <a:solidFill>
                  <a:srgbClr val="1E293B"/>
                </a:solidFill>
              </a:rPr>
              <a:t>station_id, name, code, latitude, longitude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1054577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Trains: </a:t>
            </a:r>
            <a:r>
              <a:rPr sz="1400" b="0">
                <a:solidFill>
                  <a:srgbClr val="1E293B"/>
                </a:solidFill>
              </a:rPr>
              <a:t>train_id, train_number, name, total_coaches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1054577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Schedules: </a:t>
            </a:r>
            <a:r>
              <a:rPr sz="1400" b="0">
                <a:solidFill>
                  <a:srgbClr val="1E293B"/>
                </a:solidFill>
              </a:rPr>
              <a:t>schedule_id, train_id, origin, destination, departure_time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1054577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Bookings: </a:t>
            </a:r>
            <a:r>
              <a:rPr sz="1400" b="0">
                <a:solidFill>
                  <a:srgbClr val="1E293B"/>
                </a:solidFill>
              </a:rPr>
              <a:t>booking_id, user_id, schedule_id, total_fare, status, qr_code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12080"/>
            <a:ext cx="10545775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Seats: </a:t>
            </a:r>
            <a:r>
              <a:rPr sz="1400" b="0">
                <a:solidFill>
                  <a:srgbClr val="1E293B"/>
                </a:solidFill>
              </a:rPr>
              <a:t>seat_id, coach_num, seat_num, schedule_id, 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SEAT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Real-Time Seat Allocation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1. Temporary Reservation Lock: 10-minute hold window during checkout.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2. Redis Distributed Locking: Prevents simultaneous lock attempts on identical seats.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3. Optimistic Concurrency Control: DB versioning handles high-throughput transactions.</a:t>
            </a:r>
          </a:p>
          <a:p>
            <a:pPr>
              <a:spcAft>
                <a:spcPts val="1600"/>
              </a:spcAft>
              <a:defRPr sz="1500">
                <a:solidFill>
                  <a:srgbClr val="1E293B"/>
                </a:solidFill>
              </a:defRPr>
            </a:pPr>
            <a:r>
              <a:t>4. Auto Release Trigger: Expired pending locks release seats automatically back to pool.</a:t>
            </a:r>
          </a:p>
        </p:txBody>
      </p:sp>
      <p:pic>
        <p:nvPicPr>
          <p:cNvPr id="6" name="Picture 5" descr="train_s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297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Security &amp; Data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Authentication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JWT tokens with short expiration &amp; refresh token rotation.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Data Encryption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TLS 1.3 in transit and AES-256 for sensitive stored payload.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Access Control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Strict Role-Based Access Control (RBAC) for admins &amp; commuters.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06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Input Validation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Comprehensive SQL injection &amp; XSS prevention at gateway level.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Frontend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HTML5, CSS3, JavaScript (Vite), Modern UI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054577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Backend Services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Node.js / Express, RESTful APIs, Routing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31920"/>
            <a:ext cx="1054577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Database &amp; Cache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PostgreSQL (Relational Data), Redis (Seat Locking)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29200"/>
            <a:ext cx="1054577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DevOps &amp; Hosting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Docker Containers, Cloud Hosting, GitHub Actions 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Development Roadmap &amp;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Phase 1: Research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Requirement gathering, ERD modeling, graph dataset preparation.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514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Phase 2: Core Engine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Dijkstra routing implementation, database setup, seat locker.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14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Phase 3: Integration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Frontend web development, API connection, UI/UX refinement.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828800"/>
            <a:ext cx="25146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4C81"/>
                </a:solidFill>
              </a:defRPr>
            </a:pPr>
            <a:r>
              <a:t>Phase 4: Deployment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Security audit, performance testing, staging &amp; production launch.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286000" cy="320040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4C81"/>
                </a:solidFill>
              </a:defRPr>
            </a:pPr>
            <a:r>
              <a:t>Engineering Challenges &amp;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4577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Challenge: Route Search Latency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Solution: Pre-computed station distance matrix &amp; Redis caching for frequent origin-destination 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1054577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Challenge: Race Conditions in Booking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Solution: Distributed atomic locks (Redlock algorithm) paired with PostgreSQL transaction isolation level.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1054577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Challenge: Multi-train Schedule Sync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Solution: Event-driven pub/sub architecture to update delay status across all active search sessions.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</a:defRPr>
            </a:pPr>
            <a:r>
              <a:t>THANK YOU!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FFFFF"/>
                </a:solidFill>
              </a:defRPr>
            </a:pPr>
            <a:r>
              <a:t>TrainRouter - Modern Railway Intelligence &amp; Ticketing Platform</a:t>
            </a:r>
          </a:p>
          <a:p>
            <a:pPr algn="ctr">
              <a:spcBef>
                <a:spcPts val="2000"/>
              </a:spcBef>
              <a:defRPr sz="1800">
                <a:solidFill>
                  <a:srgbClr val="CBD5E1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