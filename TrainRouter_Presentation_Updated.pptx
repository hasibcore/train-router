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B4D8"/>
                </a:solidFill>
              </a:defRPr>
            </a:pPr>
            <a:r>
              <a:t>TRAINROUTER BD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BD Train Route Finder, Seat Availability &amp; Fare Calculator</a:t>
            </a:r>
          </a:p>
          <a:p>
            <a:pPr>
              <a:spcBef>
                <a:spcPts val="1600"/>
              </a:spcBef>
              <a:defRPr sz="1400">
                <a:solidFill>
                  <a:srgbClr val="CBD5E1"/>
                </a:solidFill>
              </a:defRPr>
            </a:pPr>
            <a:r>
              <a:t>An intelligent software system engineered for Bangladesh Railway commuters to search trains by origin &amp; destination, inspect seat classes (Shovon, Snigdha, AC Berth, AC Cabin), check live available seat counts, and calculate journey fares.</a:t>
            </a:r>
          </a:p>
        </p:txBody>
      </p:sp>
      <p:pic>
        <p:nvPicPr>
          <p:cNvPr id="4" name="Picture 3" descr="hero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371600"/>
            <a:ext cx="347472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4400" y="5486400"/>
            <a:ext cx="10362895" cy="73152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TrainRouter BD Project Presentation | CSE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 PROJECT CONTRIBUTORS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Project Engineering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11480"/>
            <a:ext cx="164592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4C81"/>
                </a:solidFill>
              </a:defRPr>
            </a:pPr>
            <a:r>
              <a:t>TrainRouter BD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00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sib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103120"/>
            <a:ext cx="2194560" cy="2194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97280" y="4572000"/>
            <a:ext cx="2651760" cy="6400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4C81"/>
                </a:solidFill>
              </a:defRPr>
            </a:pPr>
            <a:r>
              <a:t>ID: 00724205101098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200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gant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103120"/>
            <a:ext cx="2194560" cy="21945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846320" y="4572000"/>
            <a:ext cx="2651760" cy="6400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4C81"/>
                </a:solidFill>
              </a:defRPr>
            </a:pPr>
            <a:r>
              <a:t>ID: 00724205101103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45920"/>
            <a:ext cx="3200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ran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2103120"/>
            <a:ext cx="2194560" cy="21945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595360" y="4572000"/>
            <a:ext cx="2651760" cy="6400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4C81"/>
                </a:solidFill>
              </a:defRPr>
            </a:pPr>
            <a:r>
              <a:t>ID: 00724205101123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 SYSTEM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What is TrainRouter BD?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11480"/>
            <a:ext cx="164592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4C81"/>
                </a:solidFill>
              </a:defRPr>
            </a:pPr>
            <a:r>
              <a:t>TrainRouter BD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9436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4C81"/>
                </a:solidFill>
              </a:defRPr>
            </a:pPr>
            <a:r>
              <a:t>01. From-To Station Search Engine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Enables Bangladesh Railway commuters to search available intercity trains between any origin and destination (e.g. Dhaka to Cox's Bazar, Sylhet, CTG).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59436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4C81"/>
                </a:solidFill>
              </a:defRPr>
            </a:pPr>
            <a:r>
              <a:t>02. Live Seat Inventory &amp; Category Lookup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Displays real-time available seat counts for all seat classes: Shovon (S_CHAIR), Snigdha (AC Chair), AC Berth (AC_BATH), and AC Cabin (AC_CABIN).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59436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9204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4C81"/>
                </a:solidFill>
              </a:defRPr>
            </a:pPr>
            <a:r>
              <a:t>03. Seat-Wise Fare Calculator Engine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Computes total journey cost dynamically in BDT (৳) based on selected seat class, distance tariff matrix, and passenger quantity (No ticket purchasing).</a:t>
            </a:r>
          </a:p>
        </p:txBody>
      </p:sp>
      <p:pic>
        <p:nvPicPr>
          <p:cNvPr id="12" name="Picture 11" descr="train_rout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645920"/>
            <a:ext cx="42976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 BACKGROUND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Challenges in Railway Commute 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11480"/>
            <a:ext cx="164592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4C81"/>
                </a:solidFill>
              </a:defRPr>
            </a:pPr>
            <a:r>
              <a:t>TrainRouter BD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91C1C"/>
                </a:solidFill>
              </a:defRPr>
            </a:pPr>
            <a:r>
              <a:t>Uncertain Train Schedules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Passengers often lack instant visibility on how many intercity trains run between stations and their departure/arrival schedules.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91C1C"/>
                </a:solidFill>
              </a:defRPr>
            </a:pPr>
            <a:r>
              <a:t>Lack of Seat Class Details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Commuters struggle to inspect real-time available seat counts for specific classes (Shovon, Snigdha, AC Berth, AC Cabin) before traveling.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91C1C"/>
                </a:solidFill>
              </a:defRPr>
            </a:pPr>
            <a:r>
              <a:t>Complex Fare Breakdown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Calculating total journey cost for family or group travel across different seat categories requires tedious manual computations.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How TrainRouter BD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11480"/>
            <a:ext cx="164592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4C81"/>
                </a:solidFill>
              </a:defRPr>
            </a:pPr>
            <a:r>
              <a:t>TrainRouter BD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Step 1: From-To Input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Select origin and destination BD stations with preferred journey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Step 2: Database Query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Queries Bangladesh Railway schedules for active intercity trains on the route.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Step 3: Seat Inventory Lookup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Retrieves available seat counts for Shovon, Snigdha, AC Berth, and AC Cabin.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Step 4: Seat-Wise Fare Calculation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Computes fare per seat class in BDT (৳) and total journey cost for N passengers.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Bangladesh Railway Relational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11480"/>
            <a:ext cx="164592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4C81"/>
                </a:solidFill>
              </a:defRPr>
            </a:pPr>
            <a:r>
              <a:t>TrainRouter BD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4577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5564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4C81"/>
                </a:solidFill>
              </a:defRPr>
            </a:pPr>
            <a:r>
              <a:t>BD Stations Catalog: </a:t>
            </a:r>
            <a:r>
              <a:rPr sz="1400" b="0">
                <a:solidFill>
                  <a:srgbClr val="1E293B"/>
                </a:solidFill>
              </a:rPr>
              <a:t>station_id, station_name (Dhaka Kamalapur, CTG, Sylhet, CXB), station_code, zone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1054577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9864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4C81"/>
                </a:solidFill>
              </a:defRPr>
            </a:pPr>
            <a:r>
              <a:t>Intercity Schedules: </a:t>
            </a:r>
            <a:r>
              <a:rPr sz="1400" b="0">
                <a:solidFill>
                  <a:srgbClr val="1E293B"/>
                </a:solidFill>
              </a:rPr>
              <a:t>train_id, train_name (Suborno, Parabat, Sonar Bangla), origin, destination, off_day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1054577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4164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4C81"/>
                </a:solidFill>
              </a:defRPr>
            </a:pPr>
            <a:r>
              <a:t>Seat Inventory Pool: </a:t>
            </a:r>
            <a:r>
              <a:rPr sz="1400" b="0">
                <a:solidFill>
                  <a:srgbClr val="1E293B"/>
                </a:solidFill>
              </a:rPr>
              <a:t>train_id, seat_type (Shovon, Snigdha, AC_Berth, AC_Cabin), available_seats_count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74920"/>
            <a:ext cx="1054577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18464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4C81"/>
                </a:solidFill>
              </a:defRPr>
            </a:pPr>
            <a:r>
              <a:t>BR Fare Tariff Rules: </a:t>
            </a:r>
            <a:r>
              <a:rPr sz="1400" b="0">
                <a:solidFill>
                  <a:srgbClr val="1E293B"/>
                </a:solidFill>
              </a:rPr>
              <a:t>route_km, base_tariff_rate_bdt, seat_class_multiplier, govt_vat_percentage (15%)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 CALCULATION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Bangladesh Railway Fare &amp; Multiplier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11480"/>
            <a:ext cx="164592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4C81"/>
                </a:solidFill>
              </a:defRPr>
            </a:pPr>
            <a:r>
              <a:t>TrainRouter BD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BD Fare Formula (BDT ৳)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Seat Fare = (Base Tariff Rate × Route Distance KM) × Class Multiplier + 15% Govt VAT.</a:t>
            </a:r>
            <a:br/>
            <a:r>
              <a:t>• Total Journey Fare = Single Seat Fare × Passenger Count.</a:t>
            </a:r>
            <a:br/>
            <a:r>
              <a:t>• Distance matrices computed across Eastern &amp; Western Rail Tracks.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BR Seat Class Multipliers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Shovon Chair (S_CHAIR): 1.0x (Standard Non-AC Padded Recliner Base Tariff)</a:t>
            </a:r>
            <a:br/>
            <a:r>
              <a:t>• Snigdha (AC Chair): 1.8x (Air-Conditioned Premium Recliner Class)</a:t>
            </a:r>
            <a:br/>
            <a:r>
              <a:t>• AC Berth (AC_BATH): 2.5x (Night Sleeper Berth Class)</a:t>
            </a:r>
            <a:br/>
            <a:r>
              <a:t>• AC Cabin (AC_CABIN): 2.8x (Private Compartment Cabin)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 FEATURES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System Features Showcase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11480"/>
            <a:ext cx="164592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4C81"/>
                </a:solidFill>
              </a:defRPr>
            </a:pPr>
            <a:r>
              <a:t>TrainRouter 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0F4C81"/>
                </a:solidFill>
              </a:defRPr>
            </a:pPr>
            <a:r>
              <a:t>•  From-To Station Train Search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    Select origin, destination &amp; date to view all active running trains.</a:t>
            </a:r>
          </a:p>
          <a:p>
            <a:pPr>
              <a:defRPr sz="1500" b="1">
                <a:solidFill>
                  <a:srgbClr val="0F4C81"/>
                </a:solidFill>
              </a:defRPr>
            </a:pPr>
            <a:r>
              <a:t>•  Available Seat Counts per Class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    Live inventory breakdown for Shovon, Snigdha, AC Berth, and AC Cabin.</a:t>
            </a:r>
          </a:p>
          <a:p>
            <a:pPr>
              <a:defRPr sz="1500" b="1">
                <a:solidFill>
                  <a:srgbClr val="0F4C81"/>
                </a:solidFill>
              </a:defRPr>
            </a:pPr>
            <a:r>
              <a:t>•  Seat-Wise Fare Calculator (BDT ৳)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    Instant cost lookup for single seat &amp; multi-passenger journeys.</a:t>
            </a:r>
          </a:p>
          <a:p>
            <a:pPr>
              <a:defRPr sz="1500" b="1">
                <a:solidFill>
                  <a:srgbClr val="0F4C81"/>
                </a:solidFill>
              </a:defRPr>
            </a:pPr>
            <a:r>
              <a:t>•  Intermediate Stoppages &amp; Timetables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    Arrival/departure times at major junction stations.</a:t>
            </a:r>
          </a:p>
          <a:p>
            <a:pPr>
              <a:defRPr sz="1500" b="1">
                <a:solidFill>
                  <a:srgbClr val="0F4C81"/>
                </a:solidFill>
              </a:defRPr>
            </a:pPr>
            <a:r>
              <a:t>•  Pinned Ticket Store &amp; Departure Alarm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    Store offline ticket reference &amp; set departure alert notifications.</a:t>
            </a:r>
          </a:p>
        </p:txBody>
      </p:sp>
      <p:pic>
        <p:nvPicPr>
          <p:cNvPr id="7" name="Picture 6" descr="train_app_mockup_v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 FEATURE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From-To &amp; Date-Based Train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11480"/>
            <a:ext cx="164592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4C81"/>
                </a:solidFill>
              </a:defRPr>
            </a:pPr>
            <a:r>
              <a:t>TrainRouter 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•  Smart Autocomplete Station Lookup: Select From (Dhaka Kamalapur) and To (Chattogram, Sylhet, Cox's Bazar, Rajshahi).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•  Journey Date Picker &amp; Off-Day Filter: Pick any travel date. System automatically checks weekly off-days (e.g. Suborno off on Wednesday) and filters non-operating trains.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•  Available Train Counter Badge: Instantly shows top header summary: '4 Intercity Trains Available on Selected Date'.</a:t>
            </a:r>
          </a:p>
        </p:txBody>
      </p:sp>
      <p:pic>
        <p:nvPicPr>
          <p:cNvPr id="7" name="Picture 6" descr="train_app_mockup_v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 FEATURE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Date-Wise Active Train Schedule &amp; Seats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11480"/>
            <a:ext cx="164592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4C81"/>
                </a:solidFill>
              </a:defRPr>
            </a:pPr>
            <a:r>
              <a:t>TrainRouter 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•  Date-Wise Active Train Schedule: Displays exact running intercity trains on selected date (Suborno 701, Parabat 709, Cox's Bazar Express 813).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•  Real-Time Seat Inventory per Class: Live seat count breakdown (Shovon: 120 seats, Snigdha: 45 seats, AC Berth: 12 seats).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•  Train Timetable Details: Exact departure time, destination arrival time, and estimated total journey duration.</a:t>
            </a:r>
          </a:p>
        </p:txBody>
      </p:sp>
      <p:pic>
        <p:nvPicPr>
          <p:cNvPr id="7" name="Picture 6" descr="train_app_mockup_v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 FEATURE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Available Seat Types &amp; Categories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11480"/>
            <a:ext cx="164592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4C81"/>
                </a:solidFill>
              </a:defRPr>
            </a:pPr>
            <a:r>
              <a:t>TrainRouter 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0F4C81"/>
                </a:solidFill>
              </a:defRPr>
            </a:pPr>
            <a:r>
              <a:t>•  Shovon Chair (S_CHAIR)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    Standard non-AC padded recliner seat with 1.0x base tariff rate.</a:t>
            </a:r>
          </a:p>
          <a:p>
            <a:pPr>
              <a:defRPr sz="1500" b="1">
                <a:solidFill>
                  <a:srgbClr val="0F4C81"/>
                </a:solidFill>
              </a:defRPr>
            </a:pPr>
            <a:r>
              <a:t>•  Snigdha (AC Chair)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    Premium air-conditioned recliner seating with 1.8x base tariff rate.</a:t>
            </a:r>
          </a:p>
          <a:p>
            <a:pPr>
              <a:defRPr sz="1500" b="1">
                <a:solidFill>
                  <a:srgbClr val="0F4C81"/>
                </a:solidFill>
              </a:defRPr>
            </a:pPr>
            <a:r>
              <a:t>•  AC Berth (AC_BATH)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    Night sleeper berth compartment for long-distance overnight travel (2.5x tariff).</a:t>
            </a:r>
          </a:p>
          <a:p>
            <a:pPr>
              <a:defRPr sz="1500" b="1">
                <a:solidFill>
                  <a:srgbClr val="0F4C81"/>
                </a:solidFill>
              </a:defRPr>
            </a:pPr>
            <a:r>
              <a:t>•  AC Cabin (AC_CABIN)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    Private lockable compartment cabin suitable for family travel (2.8x tariff).</a:t>
            </a:r>
          </a:p>
        </p:txBody>
      </p:sp>
      <p:pic>
        <p:nvPicPr>
          <p:cNvPr id="7" name="Picture 6" descr="feature_03_seat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 FEATURE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Seat-Wise Fare Calculator (BDT ৳)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11480"/>
            <a:ext cx="164592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4C81"/>
                </a:solidFill>
              </a:defRPr>
            </a:pPr>
            <a:r>
              <a:t>TrainRouter 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0F4C81"/>
                </a:solidFill>
              </a:defRPr>
            </a:pPr>
            <a:r>
              <a:t>•  Dynamic Distance Fare Calculation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    Automatically looks up route distance (KM) between selected stations.</a:t>
            </a:r>
          </a:p>
          <a:p>
            <a:pPr>
              <a:defRPr sz="1500" b="1">
                <a:solidFill>
                  <a:srgbClr val="0F4C81"/>
                </a:solidFill>
              </a:defRPr>
            </a:pPr>
            <a:r>
              <a:t>•  Class Multipliers &amp; VAT Addition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    Applies exact seat multiplier (1.0x to 2.8x) + 15% Bangladesh Govt VAT.</a:t>
            </a:r>
          </a:p>
          <a:p>
            <a:pPr>
              <a:defRPr sz="1500" b="1">
                <a:solidFill>
                  <a:srgbClr val="0F4C81"/>
                </a:solidFill>
              </a:defRPr>
            </a:pPr>
            <a:r>
              <a:t>•  Group / Family Trip Costing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    Calculates total cost for N passengers dynamically without requiring ticket booking.</a:t>
            </a:r>
          </a:p>
        </p:txBody>
      </p:sp>
      <p:pic>
        <p:nvPicPr>
          <p:cNvPr id="7" name="Picture 6" descr="fare_calc_user_mock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 FEATURE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Intermediate Stoppages &amp; Timetable Planner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11480"/>
            <a:ext cx="164592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4C81"/>
                </a:solidFill>
              </a:defRPr>
            </a:pPr>
            <a:r>
              <a:t>TrainRouter 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0F4C81"/>
                </a:solidFill>
              </a:defRPr>
            </a:pPr>
            <a:r>
              <a:t>•  Stoppage Junction Timetables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    Detailed arrival &amp; departure times at intermediate stations (Airport, Joydebpur, Akhaura).</a:t>
            </a:r>
          </a:p>
          <a:p>
            <a:pPr>
              <a:defRPr sz="1500" b="1">
                <a:solidFill>
                  <a:srgbClr val="0F4C81"/>
                </a:solidFill>
              </a:defRPr>
            </a:pPr>
            <a:r>
              <a:t>•  Cross-Zone Rail Connectivity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    Route mapping connecting Dhaka, Rajshahi, Khulna, Sylhet, and Cox's Bazar.</a:t>
            </a:r>
          </a:p>
          <a:p>
            <a:pPr>
              <a:defRPr sz="1500" b="1">
                <a:solidFill>
                  <a:srgbClr val="0F4C81"/>
                </a:solidFill>
              </a:defRPr>
            </a:pPr>
            <a:r>
              <a:t>•  Gauge Compatibility Indicator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    Clearly demarcates Meter Gauge (MG), Broad Gauge (BG), and Dual Gauge (DG) lines.</a:t>
            </a:r>
          </a:p>
        </p:txBody>
      </p:sp>
      <p:pic>
        <p:nvPicPr>
          <p:cNvPr id="7" name="Picture 6" descr="feature_05_route_stopp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 FEATURE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Ticket Store &amp; Departure Alarming Pin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11480"/>
            <a:ext cx="164592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4C81"/>
                </a:solidFill>
              </a:defRPr>
            </a:pPr>
            <a:r>
              <a:t>TrainRouter 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•  Ticket Details Pinned Storage: Store paper/online ticket photo, reference pin, train name, coach &amp; seat info locally in app wallet.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•  Journey Day Alarming Pin: Triggers sound alarms &amp; departure notifications (e.g. 2 hours prior to departure time at Kamalapur/CTG).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•  Offline Quick Pass Access: Instant offline ticket reference retrieval at station entry gates without requiring mobile data.</a:t>
            </a:r>
          </a:p>
        </p:txBody>
      </p:sp>
      <p:pic>
        <p:nvPicPr>
          <p:cNvPr id="7" name="Picture 6" descr="train_app_mockup_v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 ROADMAP: MAJOR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Major System Updates — Multimodal Transit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11480"/>
            <a:ext cx="164592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4C81"/>
                </a:solidFill>
              </a:defRPr>
            </a:pPr>
            <a:r>
              <a:t>TrainRouter BD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5120640" cy="4114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  Dhaka Metro Rail (MRT-6 &amp; Extension)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Full integration with Dhaka Metro Rail Line 6 timetables, train interval headways, Rapid Pass balance check, and seamless station transfer guide at Kamalapur Intercity Junction.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120640" cy="4114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  BusRouter BD (Inter-District Bus Schedules)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Comprehensive highway bus network integration across Bangladesh (Hanif, Shyamoli, Shohag, Ena, Green Line) with counter locations, routes, and feeder bus connections to railway stations.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931920"/>
            <a:ext cx="5120640" cy="4114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  Launch &amp; Waterway Router (Sadarghat &amp; Riverine)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Sadarghat launch terminal riverine schedule finder, deck/cabin fare lookup, and waterway routes for Southern Bangladesh districts (Barishal, Bhola, Chandpur, Patuakhali).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931920"/>
            <a:ext cx="5120640" cy="4114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  Unified Multi-Modal Trip 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Door-to-door trip planner allowing commuters to calculate combined journey routes (Local Metro ➔ Intercity Train ➔ Highway Bus / River Launch) in a single unified interface.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 ROADMAP: MINOR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Minor Updates &amp; Smart Commuter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11480"/>
            <a:ext cx="164592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4C81"/>
                </a:solidFill>
              </a:defRPr>
            </a:pPr>
            <a:r>
              <a:t>TrainRouter BD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4290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783080"/>
            <a:ext cx="315468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Live Train GPS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Real-time GPS tracking on Google Maps showing live train position, current speed, and automated station arrival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4290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783080"/>
            <a:ext cx="315468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Seat Facilities &amp; Coach Visualizer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4884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Virtual coach layout showing seat power outlets, AC vent position, reclining angle, window view, and hygiene ratings.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931920"/>
            <a:ext cx="34290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83880" y="4069080"/>
            <a:ext cx="315468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Schedule Delay Predictor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443484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Machine learning algorithm analyzing junction bottlenecks (Tongi, Joydebpur) to predict realistic delay arrival times.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31920"/>
            <a:ext cx="34290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4069080"/>
            <a:ext cx="315468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Station Offline Layout Maps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Offline station map guides showing platforms 1-10, ticket counters, food court, parking, and luggage locker 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6217920"/>
            <a:ext cx="34290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0" y="6355080"/>
            <a:ext cx="315468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Coach Crowd Density 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72084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Live passenger crowding indicators for each coach (Low, Moderate, High) to help passengers find spacious seating.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6217920"/>
            <a:ext cx="3429000" cy="21031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83880" y="6355080"/>
            <a:ext cx="315468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Smart Commuter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672084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Push notifications, fare change alerts &amp; community delay reports for active passengers.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  FINAL REMARKS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81"/>
                </a:solidFill>
              </a:defRPr>
            </a:pPr>
            <a:r>
              <a:t>Conclusion &amp;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411480"/>
            <a:ext cx="164592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4C81"/>
                </a:solidFill>
              </a:defRPr>
            </a:pPr>
            <a:r>
              <a:t>TrainRouter BD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4864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4C81"/>
                </a:solidFill>
              </a:defRPr>
            </a:pPr>
            <a:r>
              <a:t>Bangladesh Railway Impact</a:t>
            </a:r>
          </a:p>
          <a:p>
            <a:pPr>
              <a:spcBef>
                <a:spcPts val="1200"/>
              </a:spcBef>
              <a:defRPr sz="1500" b="1">
                <a:solidFill>
                  <a:srgbClr val="0F4C81"/>
                </a:solidFill>
              </a:defRPr>
            </a:pPr>
            <a:r>
              <a:t>•  100% Transparent From-To Availability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    Delivers 100% transparent From-To train availability, seat counts, and seat class rates.</a:t>
            </a:r>
          </a:p>
          <a:p>
            <a:pPr>
              <a:spcBef>
                <a:spcPts val="1200"/>
              </a:spcBef>
              <a:defRPr sz="1500" b="1">
                <a:solidFill>
                  <a:srgbClr val="0F4C81"/>
                </a:solidFill>
              </a:defRPr>
            </a:pPr>
            <a:r>
              <a:t>•  Instant Seat-wise Fare Calculator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    Eliminates counter visit hassles by providing an instant seat-wise fare calculator on web/mobile.</a:t>
            </a:r>
          </a:p>
          <a:p>
            <a:pPr>
              <a:spcBef>
                <a:spcPts val="1200"/>
              </a:spcBef>
              <a:defRPr sz="1500" b="1">
                <a:solidFill>
                  <a:srgbClr val="0F4C81"/>
                </a:solidFill>
              </a:defRPr>
            </a:pPr>
            <a:r>
              <a:t>•  Smart Alerts &amp; Ticket Management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    Pinned ticket storage &amp; departure alarm alerts ensure commuters never miss their train.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4754880" cy="448056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01168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B4D8"/>
                </a:solidFill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Questions &amp; Answers Session</a:t>
            </a:r>
          </a:p>
          <a:p>
            <a:pPr algn="ctr">
              <a:spcBef>
                <a:spcPts val="1400"/>
              </a:spcBef>
              <a:defRPr sz="1400">
                <a:solidFill>
                  <a:srgbClr val="CBD5E1"/>
                </a:solidFill>
              </a:defRPr>
            </a:pPr>
            <a:r>
              <a:t>We welcome any questions, feedback, and suggestions regarding TrainRouter BD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4846320"/>
            <a:ext cx="2011680" cy="411480"/>
          </a:xfrm>
          <a:prstGeom prst="roundRect">
            <a:avLst/>
          </a:prstGeom>
          <a:solidFill>
            <a:srgbClr val="0F4C81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👥 Passengers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4846320"/>
            <a:ext cx="2011680" cy="411480"/>
          </a:xfrm>
          <a:prstGeom prst="roundRect">
            <a:avLst/>
          </a:prstGeom>
          <a:solidFill>
            <a:srgbClr val="0F4C81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🛡️ Smart Travel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5394960"/>
            <a:ext cx="2011680" cy="411480"/>
          </a:xfrm>
          <a:prstGeom prst="roundRect">
            <a:avLst/>
          </a:prstGeom>
          <a:solidFill>
            <a:srgbClr val="0F4C81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⏰ Save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5394960"/>
            <a:ext cx="2011680" cy="411480"/>
          </a:xfrm>
          <a:prstGeom prst="roundRect">
            <a:avLst/>
          </a:prstGeom>
          <a:solidFill>
            <a:srgbClr val="0F4C81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📈 Better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